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Kaplan-Meier Survival Curves (Simulated)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Idiosyncratic Crises</c:v>
                </c:pt>
              </c:strCache>
            </c:strRef>
          </c:tx>
          <c:spPr>
            <a:solidFill>
              <a:srgbClr val="E8A020"/>
            </a:solidFill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30</c:v>
                  </c:pt>
                  <c:pt idx="2">
                    <c:v>60</c:v>
                  </c:pt>
                  <c:pt idx="3">
                    <c:v>90</c:v>
                  </c:pt>
                  <c:pt idx="4">
                    <c:v>120</c:v>
                  </c:pt>
                  <c:pt idx="5">
                    <c:v>150</c:v>
                  </c:pt>
                  <c:pt idx="6">
                    <c:v>180</c:v>
                  </c:pt>
                  <c:pt idx="7">
                    <c:v>210</c:v>
                  </c:pt>
                  <c:pt idx="8">
                    <c:v>240</c:v>
                  </c:pt>
                  <c:pt idx="9">
                    <c:v>270</c:v>
                  </c:pt>
                  <c:pt idx="10">
                    <c:v>300</c:v>
                  </c:pt>
                  <c:pt idx="11">
                    <c:v>330</c:v>
                  </c:pt>
                  <c:pt idx="12">
                    <c:v>360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0.97</c:v>
                </c:pt>
                <c:pt idx="2">
                  <c:v>0.91</c:v>
                </c:pt>
                <c:pt idx="3">
                  <c:v>0.84</c:v>
                </c:pt>
                <c:pt idx="4">
                  <c:v>0.75</c:v>
                </c:pt>
                <c:pt idx="5">
                  <c:v>0.67</c:v>
                </c:pt>
                <c:pt idx="6">
                  <c:v>0.58</c:v>
                </c:pt>
                <c:pt idx="7">
                  <c:v>0.52</c:v>
                </c:pt>
                <c:pt idx="8">
                  <c:v>0.44</c:v>
                </c:pt>
                <c:pt idx="9">
                  <c:v>0.38</c:v>
                </c:pt>
                <c:pt idx="10">
                  <c:v>0.32</c:v>
                </c:pt>
                <c:pt idx="11">
                  <c:v>0.27</c:v>
                </c:pt>
                <c:pt idx="12">
                  <c:v>0.22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Crises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30</c:v>
                  </c:pt>
                  <c:pt idx="2">
                    <c:v>60</c:v>
                  </c:pt>
                  <c:pt idx="3">
                    <c:v>90</c:v>
                  </c:pt>
                  <c:pt idx="4">
                    <c:v>120</c:v>
                  </c:pt>
                  <c:pt idx="5">
                    <c:v>150</c:v>
                  </c:pt>
                  <c:pt idx="6">
                    <c:v>180</c:v>
                  </c:pt>
                  <c:pt idx="7">
                    <c:v>210</c:v>
                  </c:pt>
                  <c:pt idx="8">
                    <c:v>240</c:v>
                  </c:pt>
                  <c:pt idx="9">
                    <c:v>270</c:v>
                  </c:pt>
                  <c:pt idx="10">
                    <c:v>300</c:v>
                  </c:pt>
                  <c:pt idx="11">
                    <c:v>330</c:v>
                  </c:pt>
                  <c:pt idx="12">
                    <c:v>360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</c:v>
                </c:pt>
                <c:pt idx="1">
                  <c:v>0.98</c:v>
                </c:pt>
                <c:pt idx="2">
                  <c:v>0.95</c:v>
                </c:pt>
                <c:pt idx="3">
                  <c:v>0.9</c:v>
                </c:pt>
                <c:pt idx="4">
                  <c:v>0.84</c:v>
                </c:pt>
                <c:pt idx="5">
                  <c:v>0.79</c:v>
                </c:pt>
                <c:pt idx="6">
                  <c:v>0.74</c:v>
                </c:pt>
                <c:pt idx="7">
                  <c:v>0.7</c:v>
                </c:pt>
                <c:pt idx="8">
                  <c:v>0.66</c:v>
                </c:pt>
                <c:pt idx="9">
                  <c:v>0.62</c:v>
                </c:pt>
                <c:pt idx="10">
                  <c:v>0.58</c:v>
                </c:pt>
                <c:pt idx="11">
                  <c:v>0.55</c:v>
                </c:pt>
                <c:pt idx="12">
                  <c:v>0.52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Trading Days Since Event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P(Not Yet Recovered)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STOCK RECOVERY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Survival Analysis of Drawdown &amp; Recovery Dynamics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54864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Ticker: BA  |  Comparators: LMT, RTX  |  Period: 2005 – 2024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&amp; Time-Series Analysis  •  M.Sc. Data Science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64008" cy="1600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978408"/>
            <a:ext cx="502920" cy="274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978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 MAX Grounding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3258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fatal crashes forced a global grounding of Boeing's flagship aircraft. The FAA revoked airworthiness certifications, production was halted, and Boeing lost over $20B in market cap within months.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8686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868680"/>
            <a:ext cx="64008" cy="1600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978408"/>
            <a:ext cx="5029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608" y="9784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4068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Crash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64608" y="13258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aviation collapsed overnight. Boeing's stock fell ~70% from its 2019 peak, compounding existing MAX-related losses with a demand shock unlike any in modern aviation history.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6974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697480"/>
            <a:ext cx="64008" cy="1600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Shape 16"/>
          <p:cNvSpPr/>
          <p:nvPr/>
        </p:nvSpPr>
        <p:spPr>
          <a:xfrm>
            <a:off x="384048" y="2807208"/>
            <a:ext cx="502920" cy="274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0" name="Text 17"/>
          <p:cNvSpPr/>
          <p:nvPr/>
        </p:nvSpPr>
        <p:spPr>
          <a:xfrm>
            <a:off x="384048" y="2807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Crisis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4048" y="31546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supply bottlenecks delayed deliveries of the 787 Dreamliner. Production quality issues surfaced again, triggering fresh FAA scrutiny and further denting investor confidence.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26974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697480"/>
            <a:ext cx="64008" cy="1600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64608" y="2807208"/>
            <a:ext cx="502920" cy="274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3"/>
          <p:cNvSpPr/>
          <p:nvPr/>
        </p:nvSpPr>
        <p:spPr>
          <a:xfrm>
            <a:off x="4864608" y="2807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4068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Airlines Door Plug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64608" y="31546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fuselage panel blew out on a 737 MAX 9 mid-flight. No fatalities, but the incident reignited safety concerns, led to production rate caps, and sent shares down ~25% in weeks.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4663440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Idiosyncratic Crisis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4663440"/>
            <a:ext cx="164592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2" name="Text 29"/>
          <p:cNvSpPr/>
          <p:nvPr/>
        </p:nvSpPr>
        <p:spPr>
          <a:xfrm>
            <a:off x="269748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Crisis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RESEARCH QUESTION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868680"/>
            <a:ext cx="91440" cy="1280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914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280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characterise the statistical distribution of post-drawdown recovery durations for Boeing (BA) stock across multiple crisis cycles, and to determine whether crisis type — idiosyncratic versus macro — is a significant predictor of time-to-recovery, after controlling for drawdown severity and prevailing market volatility.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70048"/>
            <a:ext cx="822960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71576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Boeing recover from company-specific crises (regulatory failures, safety incidents) at a statistically different rate than from market-wide shocks — and what does this imply about the nature of reputational versus systemic risk in aerospace equities?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stocks (LMT, RTX) serve as counterfactual benchmarks to isolate Boeing-specific recovery dynamics from sector-wide trends.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41832"/>
            <a:ext cx="493776" cy="49377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41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877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Identification &amp; Labelling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extract all major drawdown events (threshold ≥ −15% from rolling peak) from Boeing's adjusted closing price series over 2005–2024. Label each event by crisis type: idiosyncratic (company-specific) or macro (market-wide).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83080"/>
            <a:ext cx="493776" cy="49377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783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Duration Measurement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time-to-recovery (in trading days) for each event, where recovery is defined as the stock returning to its pre-drawdown peak. Apply right-censoring for events that have not fully recovered within the observation window.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24328"/>
            <a:ext cx="493776" cy="49377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Survival Estimation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529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and compare Kaplan-Meier survival curves stratified by crisis type. Formally test for differences in recovery distributions using the log-rank test.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65576"/>
            <a:ext cx="493776" cy="49377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65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Covariate-Adjusted Cox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6941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Cox Proportional Hazards model incorporating crisis type, drawdown trough depth, and VIX level at event onset. Estimate and interpret hazard ratios with 95% confidence intervals.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306824"/>
            <a:ext cx="493776" cy="49377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306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242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Against Peers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5354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survival framework to Lockheed Martin (LMT) and Raytheon (RTX) to contextualise Boeing's recovery profile within the broader US defense-aerospace sector.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TECHNIQUES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822960"/>
            <a:ext cx="132588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2880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· BA, LMT, RTX, ^VIX · 2005–2024 daily adjusted close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481328" y="1581912"/>
            <a:ext cx="14630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Shape 8"/>
          <p:cNvSpPr/>
          <p:nvPr/>
        </p:nvSpPr>
        <p:spPr>
          <a:xfrm>
            <a:off x="1755648" y="822960"/>
            <a:ext cx="132588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85416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3" name="Text 10"/>
          <p:cNvSpPr/>
          <p:nvPr/>
        </p:nvSpPr>
        <p:spPr>
          <a:xfrm>
            <a:off x="2185416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55648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801368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252-day peak · −15% threshold · Event merging window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099816" y="1581912"/>
            <a:ext cx="14630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" name="Shape 14"/>
          <p:cNvSpPr/>
          <p:nvPr/>
        </p:nvSpPr>
        <p:spPr>
          <a:xfrm>
            <a:off x="3374136" y="822960"/>
            <a:ext cx="132588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803904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9" name="Text 16"/>
          <p:cNvSpPr/>
          <p:nvPr/>
        </p:nvSpPr>
        <p:spPr>
          <a:xfrm>
            <a:off x="3803904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74136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19856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tagging: Idiosyncratic vs. Macro · Covariate extraction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718304" y="1581912"/>
            <a:ext cx="14630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Shape 20"/>
          <p:cNvSpPr/>
          <p:nvPr/>
        </p:nvSpPr>
        <p:spPr>
          <a:xfrm>
            <a:off x="4992624" y="822960"/>
            <a:ext cx="132588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22392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5" name="Text 22"/>
          <p:cNvSpPr/>
          <p:nvPr/>
        </p:nvSpPr>
        <p:spPr>
          <a:xfrm>
            <a:off x="5422392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92624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KAPLAN–MEIER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38344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survival estimate · Log-rank test · Stratified by crisis type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336792" y="1581912"/>
            <a:ext cx="14630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822960"/>
            <a:ext cx="1325880" cy="1645920"/>
          </a:xfrm>
          <a:prstGeom prst="rect">
            <a:avLst/>
          </a:prstGeom>
          <a:solidFill>
            <a:srgbClr val="0F2233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040880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1" name="Text 28"/>
          <p:cNvSpPr/>
          <p:nvPr/>
        </p:nvSpPr>
        <p:spPr>
          <a:xfrm>
            <a:off x="7040880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611112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56832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ratios · Covariates: type, trough depth, VIX · PH assumption test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955280" y="1581912"/>
            <a:ext cx="146304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5" name="Shape 32"/>
          <p:cNvSpPr/>
          <p:nvPr/>
        </p:nvSpPr>
        <p:spPr>
          <a:xfrm>
            <a:off x="8229600" y="822960"/>
            <a:ext cx="1325880" cy="1645920"/>
          </a:xfrm>
          <a:prstGeom prst="rect">
            <a:avLst/>
          </a:prstGeom>
          <a:solidFill>
            <a:srgbClr val="0F2233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659368" y="841248"/>
            <a:ext cx="457200" cy="4572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7" name="Text 34"/>
          <p:cNvSpPr/>
          <p:nvPr/>
        </p:nvSpPr>
        <p:spPr>
          <a:xfrm>
            <a:off x="8659368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2960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75320" y="1901952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on LMT &amp; RTX · Cross-ticker survival comparison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274320" y="2743200"/>
            <a:ext cx="4206240" cy="2148840"/>
          </a:xfrm>
          <a:prstGeom prst="rect">
            <a:avLst/>
          </a:prstGeom>
          <a:solidFill>
            <a:srgbClr val="0A1F33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2" name="Text 39"/>
          <p:cNvSpPr/>
          <p:nvPr/>
        </p:nvSpPr>
        <p:spPr>
          <a:xfrm>
            <a:off x="384048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Estimator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84048" y="3145536"/>
            <a:ext cx="3986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KM estimator S(t) = ∏[1 − d_i/n_i] computes the probability of "surviving" (not yet recovering) past time t. Right-censored observations are naturally accommodated. Curves are stratified by crisis type and compared via the log-rank test (H₀: identical survival distributions). Confidence bands use Greenwood's formula.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09160" y="2743200"/>
            <a:ext cx="4206240" cy="2148840"/>
          </a:xfrm>
          <a:prstGeom prst="rect">
            <a:avLst/>
          </a:prstGeom>
          <a:solidFill>
            <a:srgbClr val="0A1F33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709160" y="2743200"/>
            <a:ext cx="420624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6" name="Text 43"/>
          <p:cNvSpPr/>
          <p:nvPr/>
        </p:nvSpPr>
        <p:spPr>
          <a:xfrm>
            <a:off x="4818888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Model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18888" y="3145536"/>
            <a:ext cx="3986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h(t|x) = h₀(t) · exp(β₁·CrisisType + β₂·TroughDepth + β₃·VIX) where h₀(t) is an unspecified baseline hazard. The model is semi-parametric — no distributional assumption on h₀(t). Partial likelihood estimation yields hazard ratios. The proportional hazards assumption is verified via Schoenfeld residuals.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&amp; OBSERVATIONS  [PLACEHOLDER]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41248"/>
          <a:ext cx="3246120" cy="1828800"/>
        </p:xfrm>
        <a:graphic>
          <a:graphicData uri="http://schemas.openxmlformats.org/drawingml/2006/table">
            <a:tbl>
              <a:tblPr/>
              <a:tblGrid>
                <a:gridCol w="811530"/>
                <a:gridCol w="811530"/>
                <a:gridCol w="811530"/>
                <a:gridCol w="81153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Type (Idiosyncratic vs Macro)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[0.21, 0.79]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 Depth (% drawdown)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[1.01, 1.06]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at Event Onset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[0.91, 1.01]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658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PH Model Estimates (Simulated)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4069080"/>
            <a:ext cx="64008" cy="457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1056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Recovery for Idiosyncratic Events — Median recovery for company-specific crises: ~210 days vs ~140 days for macro events. HR = 0.48 suggests ~52% reduced hazard of recovery.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4617720"/>
            <a:ext cx="64008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6542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Not Significant — Prevailing market fear at event onset did not significantly predict Boeing's recovery speed once crisis type and trough depth are controlled.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figures are simulated placeholders pending full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drawdown event extraction and manual crisis-type labelling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KM curves and run log-rank test for statistical significance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and interpret Cox PH model; check proportional hazards assumption via Schoenfeld residuals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identical pipeline to LMT and RTX for peer benchmarking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findings into full report and visualisation suite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Stock Recovery Study  |  M.Sc. Data Science  |  Results pending — placeholder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Boeing Stock Recovery Study</dc:title>
  <dc:subject>PptxGenJS Presentation</dc:subject>
  <dc:creator>PptxGenJS</dc:creator>
  <cp:lastModifiedBy>PptxGenJS</cp:lastModifiedBy>
  <cp:revision>1</cp:revision>
  <dcterms:created xsi:type="dcterms:W3CDTF">2026-05-08T07:53:53Z</dcterms:created>
  <dcterms:modified xsi:type="dcterms:W3CDTF">2026-05-08T07:53:53Z</dcterms:modified>
</cp:coreProperties>
</file>